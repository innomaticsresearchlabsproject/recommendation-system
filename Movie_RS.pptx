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4"/>
  </p:sldMasterIdLst>
  <p:sldIdLst>
    <p:sldId id="257" r:id="rId5"/>
    <p:sldId id="262" r:id="rId6"/>
    <p:sldId id="263" r:id="rId7"/>
    <p:sldId id="264" r:id="rId8"/>
    <p:sldId id="265" r:id="rId9"/>
    <p:sldId id="266" r:id="rId10"/>
    <p:sldId id="267" r:id="rId11"/>
    <p:sldId id="269" r:id="rId12"/>
    <p:sldId id="261"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4529"/>
    <a:srgbClr val="2B3922"/>
    <a:srgbClr val="2E3722"/>
    <a:srgbClr val="FCF7F1"/>
    <a:srgbClr val="B8D233"/>
    <a:srgbClr val="5CC6D6"/>
    <a:srgbClr val="F8D22F"/>
    <a:srgbClr val="F03F2B"/>
    <a:srgbClr val="3488A0"/>
    <a:srgbClr val="5790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19" autoAdjust="0"/>
  </p:normalViewPr>
  <p:slideViewPr>
    <p:cSldViewPr snapToGrid="0">
      <p:cViewPr varScale="1">
        <p:scale>
          <a:sx n="68" d="100"/>
          <a:sy n="68" d="100"/>
        </p:scale>
        <p:origin x="8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A66772-F185-4D58-B8BB-E9370D7A7A2B}"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40FC4FFE-8987-4A26-B7F4-8A516F18ADAE}">
      <dgm:prSet/>
      <dgm:spPr/>
      <dgm:t>
        <a:bodyPr/>
        <a:lstStyle/>
        <a:p>
          <a:pPr>
            <a:lnSpc>
              <a:spcPct val="100000"/>
            </a:lnSpc>
            <a:defRPr cap="all"/>
          </a:pPr>
          <a:r>
            <a:rPr lang="en-US" dirty="0"/>
            <a:t>Lorem ipsum dolor sit amet, consectetuer adipiscing elit. </a:t>
          </a:r>
        </a:p>
      </dgm:t>
    </dgm:pt>
    <dgm:pt modelId="{CAD7EF86-FB23-41F6-BF42-040B36DEFDB1}" type="parTrans" cxnId="{C7AD8469-3C68-4AF9-AB82-79B0043AA120}">
      <dgm:prSet/>
      <dgm:spPr/>
      <dgm:t>
        <a:bodyPr/>
        <a:lstStyle/>
        <a:p>
          <a:endParaRPr lang="en-US"/>
        </a:p>
      </dgm:t>
    </dgm:pt>
    <dgm:pt modelId="{5B62599A-5C9B-48E7-896E-EA782AC60C8B}" type="sibTrans" cxnId="{C7AD8469-3C68-4AF9-AB82-79B0043AA120}">
      <dgm:prSet/>
      <dgm:spPr/>
      <dgm:t>
        <a:bodyPr/>
        <a:lstStyle/>
        <a:p>
          <a:endParaRPr lang="en-US"/>
        </a:p>
      </dgm:t>
    </dgm:pt>
    <dgm:pt modelId="{49225C73-1633-42F1-AB3B-7CB183E5F8B8}">
      <dgm:prSet/>
      <dgm:spPr/>
      <dgm:t>
        <a:bodyPr/>
        <a:lstStyle/>
        <a:p>
          <a:pPr>
            <a:lnSpc>
              <a:spcPct val="100000"/>
            </a:lnSpc>
            <a:defRPr cap="all"/>
          </a:pPr>
          <a:r>
            <a:rPr lang="en-US" dirty="0"/>
            <a:t>Nunc viverra imperdiet enim. Fusce est. Vivamus a tellus.</a:t>
          </a:r>
        </a:p>
      </dgm:t>
    </dgm:pt>
    <dgm:pt modelId="{1A0E2090-1D4F-438A-8766-B6030CE01ADD}" type="parTrans" cxnId="{A9154303-8225-4248-91DC-1B0156A35F07}">
      <dgm:prSet/>
      <dgm:spPr/>
      <dgm:t>
        <a:bodyPr/>
        <a:lstStyle/>
        <a:p>
          <a:endParaRPr lang="en-US"/>
        </a:p>
      </dgm:t>
    </dgm:pt>
    <dgm:pt modelId="{9646853A-8964-4519-A5B1-0B7D18B2983D}" type="sibTrans" cxnId="{A9154303-8225-4248-91DC-1B0156A35F07}">
      <dgm:prSet/>
      <dgm:spPr/>
      <dgm:t>
        <a:bodyPr/>
        <a:lstStyle/>
        <a:p>
          <a:endParaRPr lang="en-US"/>
        </a:p>
      </dgm:t>
    </dgm:pt>
    <dgm:pt modelId="{1C383F32-22E8-4F62-A3E0-BDC3D5F48992}">
      <dgm:prSet/>
      <dgm:spPr/>
      <dgm:t>
        <a:bodyPr/>
        <a:lstStyle/>
        <a:p>
          <a:pPr>
            <a:lnSpc>
              <a:spcPct val="100000"/>
            </a:lnSpc>
            <a:defRPr cap="all"/>
          </a:pPr>
          <a:r>
            <a:rPr lang="en-US" dirty="0"/>
            <a:t>Pellentesque habitant morbi tristique senectus et netus.</a:t>
          </a:r>
        </a:p>
      </dgm:t>
    </dgm:pt>
    <dgm:pt modelId="{A7920A2F-3244-4159-AF04-6A1D38B7B317}" type="parTrans" cxnId="{C4CCE57E-E871-46D6-BAD5-880252C95D22}">
      <dgm:prSet/>
      <dgm:spPr/>
      <dgm:t>
        <a:bodyPr/>
        <a:lstStyle/>
        <a:p>
          <a:endParaRPr lang="en-US"/>
        </a:p>
      </dgm:t>
    </dgm:pt>
    <dgm:pt modelId="{8500F72A-2C6D-4FDF-9C1D-CA691380EB0B}" type="sibTrans" cxnId="{C4CCE57E-E871-46D6-BAD5-880252C95D22}">
      <dgm:prSet/>
      <dgm:spPr/>
      <dgm:t>
        <a:bodyPr/>
        <a:lstStyle/>
        <a:p>
          <a:endParaRPr lang="en-US"/>
        </a:p>
      </dgm:t>
    </dgm:pt>
    <dgm:pt modelId="{50B3CE7C-E10B-4E23-BD93-03664997C932}" type="pres">
      <dgm:prSet presAssocID="{01A66772-F185-4D58-B8BB-E9370D7A7A2B}" presName="root" presStyleCnt="0">
        <dgm:presLayoutVars>
          <dgm:dir/>
          <dgm:resizeHandles val="exact"/>
        </dgm:presLayoutVars>
      </dgm:prSet>
      <dgm:spPr/>
    </dgm:pt>
    <dgm:pt modelId="{DE9CE479-E4AE-4283-AEF1-10C1535B4324}" type="pres">
      <dgm:prSet presAssocID="{40FC4FFE-8987-4A26-B7F4-8A516F18ADAE}" presName="compNode" presStyleCnt="0"/>
      <dgm:spPr/>
    </dgm:pt>
    <dgm:pt modelId="{B59FCF02-CAD2-4D6F-9542-AD86711168CA}" type="pres">
      <dgm:prSet presAssocID="{40FC4FFE-8987-4A26-B7F4-8A516F18ADAE}" presName="iconBgRect" presStyleLbl="bgShp" presStyleIdx="0" presStyleCnt="3"/>
      <dgm:spPr/>
    </dgm:pt>
    <dgm:pt modelId="{7C175B98-93F4-4D7C-BB95-1514AB879CD5}" type="pres">
      <dgm:prSet presAssocID="{40FC4FFE-8987-4A26-B7F4-8A516F18ADA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Bar graph with downward trend"/>
        </a:ext>
      </dgm:extLst>
    </dgm:pt>
    <dgm:pt modelId="{677A3090-5F01-43FD-9FA6-C0420AD80FD6}" type="pres">
      <dgm:prSet presAssocID="{40FC4FFE-8987-4A26-B7F4-8A516F18ADAE}" presName="spaceRect" presStyleCnt="0"/>
      <dgm:spPr/>
    </dgm:pt>
    <dgm:pt modelId="{127117FB-F8A7-4A20-A8A7-EC686DDC76D0}" type="pres">
      <dgm:prSet presAssocID="{40FC4FFE-8987-4A26-B7F4-8A516F18ADAE}" presName="textRect" presStyleLbl="revTx" presStyleIdx="0" presStyleCnt="3">
        <dgm:presLayoutVars>
          <dgm:chMax val="1"/>
          <dgm:chPref val="1"/>
        </dgm:presLayoutVars>
      </dgm:prSet>
      <dgm:spPr/>
    </dgm:pt>
    <dgm:pt modelId="{FD1EED9C-83D3-41AD-A09B-D3B36354168F}" type="pres">
      <dgm:prSet presAssocID="{5B62599A-5C9B-48E7-896E-EA782AC60C8B}" presName="sibTrans" presStyleCnt="0"/>
      <dgm:spPr/>
    </dgm:pt>
    <dgm:pt modelId="{C998AB0A-577D-44AA-A068-F634DDE7BD47}" type="pres">
      <dgm:prSet presAssocID="{49225C73-1633-42F1-AB3B-7CB183E5F8B8}" presName="compNode" presStyleCnt="0"/>
      <dgm:spPr/>
    </dgm:pt>
    <dgm:pt modelId="{BCD8CDD9-0C56-4401-ADB1-8B48DAB2C96F}" type="pres">
      <dgm:prSet presAssocID="{49225C73-1633-42F1-AB3B-7CB183E5F8B8}" presName="iconBgRect" presStyleLbl="bgShp" presStyleIdx="1" presStyleCnt="3"/>
      <dgm:spPr/>
    </dgm:pt>
    <dgm:pt modelId="{DB4CA7C4-FCA1-4127-B20A-2A5C031A3CF4}" type="pres">
      <dgm:prSet presAssocID="{49225C73-1633-42F1-AB3B-7CB183E5F8B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Presentation with bar chart"/>
        </a:ext>
      </dgm:extLst>
    </dgm:pt>
    <dgm:pt modelId="{9B0C8FBF-0BDD-48A5-967E-F3FE71659F6A}" type="pres">
      <dgm:prSet presAssocID="{49225C73-1633-42F1-AB3B-7CB183E5F8B8}" presName="spaceRect" presStyleCnt="0"/>
      <dgm:spPr/>
    </dgm:pt>
    <dgm:pt modelId="{7E6FE37A-5DB0-4899-9FCB-0CE39BC185F8}" type="pres">
      <dgm:prSet presAssocID="{49225C73-1633-42F1-AB3B-7CB183E5F8B8}" presName="textRect" presStyleLbl="revTx" presStyleIdx="1" presStyleCnt="3">
        <dgm:presLayoutVars>
          <dgm:chMax val="1"/>
          <dgm:chPref val="1"/>
        </dgm:presLayoutVars>
      </dgm:prSet>
      <dgm:spPr/>
    </dgm:pt>
    <dgm:pt modelId="{5A266296-0042-402F-92EF-D59AB148E92E}" type="pres">
      <dgm:prSet presAssocID="{9646853A-8964-4519-A5B1-0B7D18B2983D}" presName="sibTrans" presStyleCnt="0"/>
      <dgm:spPr/>
    </dgm:pt>
    <dgm:pt modelId="{ECFA770B-DE2C-4683-A038-58D0FE44BC27}" type="pres">
      <dgm:prSet presAssocID="{1C383F32-22E8-4F62-A3E0-BDC3D5F48992}" presName="compNode" presStyleCnt="0"/>
      <dgm:spPr/>
    </dgm:pt>
    <dgm:pt modelId="{FF93E135-77D6-48A0-8871-9BC93D705D06}" type="pres">
      <dgm:prSet presAssocID="{1C383F32-22E8-4F62-A3E0-BDC3D5F48992}" presName="iconBgRect" presStyleLbl="bgShp" presStyleIdx="2" presStyleCnt="3"/>
      <dgm:spPr/>
    </dgm:pt>
    <dgm:pt modelId="{39509775-983E-4110-B989-EE2CD6514BE0}" type="pres">
      <dgm:prSet presAssocID="{1C383F32-22E8-4F62-A3E0-BDC3D5F4899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Stopwatch"/>
        </a:ext>
      </dgm:extLst>
    </dgm:pt>
    <dgm:pt modelId="{493B43B2-705C-4AE5-8A77-D8DEEDA1B5CF}" type="pres">
      <dgm:prSet presAssocID="{1C383F32-22E8-4F62-A3E0-BDC3D5F48992}" presName="spaceRect" presStyleCnt="0"/>
      <dgm:spPr/>
    </dgm:pt>
    <dgm:pt modelId="{1AEDC777-00B3-41D7-9AE1-23D741E941C3}" type="pres">
      <dgm:prSet presAssocID="{1C383F32-22E8-4F62-A3E0-BDC3D5F48992}" presName="textRect" presStyleLbl="revTx" presStyleIdx="2" presStyleCnt="3">
        <dgm:presLayoutVars>
          <dgm:chMax val="1"/>
          <dgm:chPref val="1"/>
        </dgm:presLayoutVars>
      </dgm:prSet>
      <dgm:spPr/>
    </dgm:pt>
  </dgm:ptLst>
  <dgm:cxnLst>
    <dgm:cxn modelId="{A9154303-8225-4248-91DC-1B0156A35F07}" srcId="{01A66772-F185-4D58-B8BB-E9370D7A7A2B}" destId="{49225C73-1633-42F1-AB3B-7CB183E5F8B8}" srcOrd="1" destOrd="0" parTransId="{1A0E2090-1D4F-438A-8766-B6030CE01ADD}" sibTransId="{9646853A-8964-4519-A5B1-0B7D18B2983D}"/>
    <dgm:cxn modelId="{7A710F69-5154-4855-ACF5-BC7C1BF85A80}" type="presOf" srcId="{49225C73-1633-42F1-AB3B-7CB183E5F8B8}" destId="{7E6FE37A-5DB0-4899-9FCB-0CE39BC185F8}" srcOrd="0" destOrd="0" presId="urn:microsoft.com/office/officeart/2018/5/layout/IconCircleLabelList"/>
    <dgm:cxn modelId="{C7AD8469-3C68-4AF9-AB82-79B0043AA120}" srcId="{01A66772-F185-4D58-B8BB-E9370D7A7A2B}" destId="{40FC4FFE-8987-4A26-B7F4-8A516F18ADAE}" srcOrd="0" destOrd="0" parTransId="{CAD7EF86-FB23-41F6-BF42-040B36DEFDB1}" sibTransId="{5B62599A-5C9B-48E7-896E-EA782AC60C8B}"/>
    <dgm:cxn modelId="{676D3A6A-6EA7-4483-BB12-0BD4A7D7AF9D}" type="presOf" srcId="{01A66772-F185-4D58-B8BB-E9370D7A7A2B}" destId="{50B3CE7C-E10B-4E23-BD93-03664997C932}" srcOrd="0" destOrd="0" presId="urn:microsoft.com/office/officeart/2018/5/layout/IconCircleLabelList"/>
    <dgm:cxn modelId="{1496FC70-DB8B-48D4-98DE-DD2856E389EE}" type="presOf" srcId="{1C383F32-22E8-4F62-A3E0-BDC3D5F48992}" destId="{1AEDC777-00B3-41D7-9AE1-23D741E941C3}" srcOrd="0" destOrd="0" presId="urn:microsoft.com/office/officeart/2018/5/layout/IconCircleLabelList"/>
    <dgm:cxn modelId="{C4CCE57E-E871-46D6-BAD5-880252C95D22}" srcId="{01A66772-F185-4D58-B8BB-E9370D7A7A2B}" destId="{1C383F32-22E8-4F62-A3E0-BDC3D5F48992}" srcOrd="2" destOrd="0" parTransId="{A7920A2F-3244-4159-AF04-6A1D38B7B317}" sibTransId="{8500F72A-2C6D-4FDF-9C1D-CA691380EB0B}"/>
    <dgm:cxn modelId="{355227E3-55E0-4343-BC8D-FC0EB1694F48}" type="presOf" srcId="{40FC4FFE-8987-4A26-B7F4-8A516F18ADAE}" destId="{127117FB-F8A7-4A20-A8A7-EC686DDC76D0}" srcOrd="0" destOrd="0" presId="urn:microsoft.com/office/officeart/2018/5/layout/IconCircleLabelList"/>
    <dgm:cxn modelId="{555498CB-3ED1-404E-A25F-EB243EFC5FB1}" type="presParOf" srcId="{50B3CE7C-E10B-4E23-BD93-03664997C932}" destId="{DE9CE479-E4AE-4283-AEF1-10C1535B4324}" srcOrd="0" destOrd="0" presId="urn:microsoft.com/office/officeart/2018/5/layout/IconCircleLabelList"/>
    <dgm:cxn modelId="{11F12D49-CD08-4D50-BD13-3ECBC3A476A4}" type="presParOf" srcId="{DE9CE479-E4AE-4283-AEF1-10C1535B4324}" destId="{B59FCF02-CAD2-4D6F-9542-AD86711168CA}" srcOrd="0" destOrd="0" presId="urn:microsoft.com/office/officeart/2018/5/layout/IconCircleLabelList"/>
    <dgm:cxn modelId="{F443A659-540B-487B-97F9-49219CF60D6B}" type="presParOf" srcId="{DE9CE479-E4AE-4283-AEF1-10C1535B4324}" destId="{7C175B98-93F4-4D7C-BB95-1514AB879CD5}" srcOrd="1" destOrd="0" presId="urn:microsoft.com/office/officeart/2018/5/layout/IconCircleLabelList"/>
    <dgm:cxn modelId="{A503D7AB-7D64-4163-93B5-1CEEDAE81823}" type="presParOf" srcId="{DE9CE479-E4AE-4283-AEF1-10C1535B4324}" destId="{677A3090-5F01-43FD-9FA6-C0420AD80FD6}" srcOrd="2" destOrd="0" presId="urn:microsoft.com/office/officeart/2018/5/layout/IconCircleLabelList"/>
    <dgm:cxn modelId="{780188ED-7DCE-45BB-B6AF-91BE48969612}" type="presParOf" srcId="{DE9CE479-E4AE-4283-AEF1-10C1535B4324}" destId="{127117FB-F8A7-4A20-A8A7-EC686DDC76D0}" srcOrd="3" destOrd="0" presId="urn:microsoft.com/office/officeart/2018/5/layout/IconCircleLabelList"/>
    <dgm:cxn modelId="{155719F8-A89B-4E96-BC49-C48BC717F480}" type="presParOf" srcId="{50B3CE7C-E10B-4E23-BD93-03664997C932}" destId="{FD1EED9C-83D3-41AD-A09B-D3B36354168F}" srcOrd="1" destOrd="0" presId="urn:microsoft.com/office/officeart/2018/5/layout/IconCircleLabelList"/>
    <dgm:cxn modelId="{2772E199-56B0-4310-A55E-67D00CA3E59E}" type="presParOf" srcId="{50B3CE7C-E10B-4E23-BD93-03664997C932}" destId="{C998AB0A-577D-44AA-A068-F634DDE7BD47}" srcOrd="2" destOrd="0" presId="urn:microsoft.com/office/officeart/2018/5/layout/IconCircleLabelList"/>
    <dgm:cxn modelId="{4E351D18-D97F-4B92-A608-2E9600B91C28}" type="presParOf" srcId="{C998AB0A-577D-44AA-A068-F634DDE7BD47}" destId="{BCD8CDD9-0C56-4401-ADB1-8B48DAB2C96F}" srcOrd="0" destOrd="0" presId="urn:microsoft.com/office/officeart/2018/5/layout/IconCircleLabelList"/>
    <dgm:cxn modelId="{B3DC724C-4569-4E9D-BD5A-49E4CD991FD0}" type="presParOf" srcId="{C998AB0A-577D-44AA-A068-F634DDE7BD47}" destId="{DB4CA7C4-FCA1-4127-B20A-2A5C031A3CF4}" srcOrd="1" destOrd="0" presId="urn:microsoft.com/office/officeart/2018/5/layout/IconCircleLabelList"/>
    <dgm:cxn modelId="{AD1AB552-CCE0-4911-BB9E-5D4A60B21F4F}" type="presParOf" srcId="{C998AB0A-577D-44AA-A068-F634DDE7BD47}" destId="{9B0C8FBF-0BDD-48A5-967E-F3FE71659F6A}" srcOrd="2" destOrd="0" presId="urn:microsoft.com/office/officeart/2018/5/layout/IconCircleLabelList"/>
    <dgm:cxn modelId="{8558F796-2D01-40FE-A21A-7530EEBC3BC3}" type="presParOf" srcId="{C998AB0A-577D-44AA-A068-F634DDE7BD47}" destId="{7E6FE37A-5DB0-4899-9FCB-0CE39BC185F8}" srcOrd="3" destOrd="0" presId="urn:microsoft.com/office/officeart/2018/5/layout/IconCircleLabelList"/>
    <dgm:cxn modelId="{1532E2BE-82E9-40A4-A6F7-40B60FC879AE}" type="presParOf" srcId="{50B3CE7C-E10B-4E23-BD93-03664997C932}" destId="{5A266296-0042-402F-92EF-D59AB148E92E}" srcOrd="3" destOrd="0" presId="urn:microsoft.com/office/officeart/2018/5/layout/IconCircleLabelList"/>
    <dgm:cxn modelId="{3A7F4DB9-1469-4F58-B633-24B7EEE084D1}" type="presParOf" srcId="{50B3CE7C-E10B-4E23-BD93-03664997C932}" destId="{ECFA770B-DE2C-4683-A038-58D0FE44BC27}" srcOrd="4" destOrd="0" presId="urn:microsoft.com/office/officeart/2018/5/layout/IconCircleLabelList"/>
    <dgm:cxn modelId="{91311827-CDAC-4BA8-B4A3-117AFD1CEE2D}" type="presParOf" srcId="{ECFA770B-DE2C-4683-A038-58D0FE44BC27}" destId="{FF93E135-77D6-48A0-8871-9BC93D705D06}" srcOrd="0" destOrd="0" presId="urn:microsoft.com/office/officeart/2018/5/layout/IconCircleLabelList"/>
    <dgm:cxn modelId="{83B7CA40-11B7-4507-8422-A40F02D469B2}" type="presParOf" srcId="{ECFA770B-DE2C-4683-A038-58D0FE44BC27}" destId="{39509775-983E-4110-B989-EE2CD6514BE0}" srcOrd="1" destOrd="0" presId="urn:microsoft.com/office/officeart/2018/5/layout/IconCircleLabelList"/>
    <dgm:cxn modelId="{A44BB251-01EB-4DEF-A28C-6D495183E4DC}" type="presParOf" srcId="{ECFA770B-DE2C-4683-A038-58D0FE44BC27}" destId="{493B43B2-705C-4AE5-8A77-D8DEEDA1B5CF}" srcOrd="2" destOrd="0" presId="urn:microsoft.com/office/officeart/2018/5/layout/IconCircleLabelList"/>
    <dgm:cxn modelId="{1EFA52DF-3C80-4DAA-BED6-AFE2F81796B2}" type="presParOf" srcId="{ECFA770B-DE2C-4683-A038-58D0FE44BC27}" destId="{1AEDC777-00B3-41D7-9AE1-23D741E941C3}"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9FCF02-CAD2-4D6F-9542-AD86711168CA}">
      <dsp:nvSpPr>
        <dsp:cNvPr id="0" name=""/>
        <dsp:cNvSpPr/>
      </dsp:nvSpPr>
      <dsp:spPr>
        <a:xfrm>
          <a:off x="616949" y="310305"/>
          <a:ext cx="1818562" cy="181856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175B98-93F4-4D7C-BB95-1514AB879CD5}">
      <dsp:nvSpPr>
        <dsp:cNvPr id="0" name=""/>
        <dsp:cNvSpPr/>
      </dsp:nvSpPr>
      <dsp:spPr>
        <a:xfrm>
          <a:off x="1004512" y="697868"/>
          <a:ext cx="1043437" cy="10434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27117FB-F8A7-4A20-A8A7-EC686DDC76D0}">
      <dsp:nvSpPr>
        <dsp:cNvPr id="0" name=""/>
        <dsp:cNvSpPr/>
      </dsp:nvSpPr>
      <dsp:spPr>
        <a:xfrm>
          <a:off x="35606" y="2695306"/>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dirty="0"/>
            <a:t>Lorem ipsum dolor sit amet, consectetuer adipiscing elit. </a:t>
          </a:r>
        </a:p>
      </dsp:txBody>
      <dsp:txXfrm>
        <a:off x="35606" y="2695306"/>
        <a:ext cx="2981250" cy="720000"/>
      </dsp:txXfrm>
    </dsp:sp>
    <dsp:sp modelId="{BCD8CDD9-0C56-4401-ADB1-8B48DAB2C96F}">
      <dsp:nvSpPr>
        <dsp:cNvPr id="0" name=""/>
        <dsp:cNvSpPr/>
      </dsp:nvSpPr>
      <dsp:spPr>
        <a:xfrm>
          <a:off x="4119918" y="310305"/>
          <a:ext cx="1818562" cy="181856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4CA7C4-FCA1-4127-B20A-2A5C031A3CF4}">
      <dsp:nvSpPr>
        <dsp:cNvPr id="0" name=""/>
        <dsp:cNvSpPr/>
      </dsp:nvSpPr>
      <dsp:spPr>
        <a:xfrm>
          <a:off x="4507481" y="697868"/>
          <a:ext cx="1043437" cy="10434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E6FE37A-5DB0-4899-9FCB-0CE39BC185F8}">
      <dsp:nvSpPr>
        <dsp:cNvPr id="0" name=""/>
        <dsp:cNvSpPr/>
      </dsp:nvSpPr>
      <dsp:spPr>
        <a:xfrm>
          <a:off x="3538574" y="2695306"/>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dirty="0"/>
            <a:t>Nunc viverra imperdiet enim. Fusce est. Vivamus a tellus.</a:t>
          </a:r>
        </a:p>
      </dsp:txBody>
      <dsp:txXfrm>
        <a:off x="3538574" y="2695306"/>
        <a:ext cx="2981250" cy="720000"/>
      </dsp:txXfrm>
    </dsp:sp>
    <dsp:sp modelId="{FF93E135-77D6-48A0-8871-9BC93D705D06}">
      <dsp:nvSpPr>
        <dsp:cNvPr id="0" name=""/>
        <dsp:cNvSpPr/>
      </dsp:nvSpPr>
      <dsp:spPr>
        <a:xfrm>
          <a:off x="7622887" y="310305"/>
          <a:ext cx="1818562" cy="181856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509775-983E-4110-B989-EE2CD6514BE0}">
      <dsp:nvSpPr>
        <dsp:cNvPr id="0" name=""/>
        <dsp:cNvSpPr/>
      </dsp:nvSpPr>
      <dsp:spPr>
        <a:xfrm>
          <a:off x="8010450" y="697868"/>
          <a:ext cx="1043437" cy="10434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AEDC777-00B3-41D7-9AE1-23D741E941C3}">
      <dsp:nvSpPr>
        <dsp:cNvPr id="0" name=""/>
        <dsp:cNvSpPr/>
      </dsp:nvSpPr>
      <dsp:spPr>
        <a:xfrm>
          <a:off x="7041543" y="2695306"/>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dirty="0"/>
            <a:t>Pellentesque habitant morbi tristique senectus et netus.</a:t>
          </a:r>
        </a:p>
      </dsp:txBody>
      <dsp:txXfrm>
        <a:off x="7041543" y="2695306"/>
        <a:ext cx="298125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EA0C0817-A112-4847-8014-A94B7D2A4EA3}" type="datetime1">
              <a:rPr lang="en-US" smtClean="0"/>
              <a:t>1/4/2022</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651963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1/4/2022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439161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D9C646AA-F36E-4540-911D-FFFC0A0EF24A}" type="datetime1">
              <a:rPr lang="en-US" smtClean="0"/>
              <a:t>1/4/2022</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502858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1/4/2022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626094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1/4/2022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002281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1/4/2022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4136852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1/4/2022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120541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8D12A6-918A-48BD-8CB9-CA713993B0EA}" type="datetime1">
              <a:rPr lang="en-US" smtClean="0"/>
              <a:t>1/4/2022</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479804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78CE86-875F-4587-BCF6-FA054AFC0D53}" type="datetime1">
              <a:rPr lang="en-US" smtClean="0"/>
              <a:pPr/>
              <a:t>1/4/2022</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590896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FA2B21-3FCD-4721-B95C-427943F61125}" type="datetime1">
              <a:rPr lang="en-US" smtClean="0"/>
              <a:t>1/4/2022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410761026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F6FA2B21-3FCD-4721-B95C-427943F61125}" type="datetime1">
              <a:rPr lang="en-US" smtClean="0"/>
              <a:t>1/4/2022</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654960319"/>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F6FA2B21-3FCD-4721-B95C-427943F61125}" type="datetime1">
              <a:rPr lang="en-US" smtClean="0"/>
              <a:t>1/4/2022</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34B7E4EF-A1BD-40F4-AB7B-04F084DD991D}" type="slidenum">
              <a:rPr lang="en-US" smtClean="0"/>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786407908"/>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bstract image">
            <a:extLst>
              <a:ext uri="{FF2B5EF4-FFF2-40B4-BE49-F238E27FC236}">
                <a16:creationId xmlns:a16="http://schemas.microsoft.com/office/drawing/2014/main" id="{8045422F-7258-40AC-BD2E-2469AA448922}"/>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180109" y="3237000"/>
            <a:ext cx="6844146" cy="1630907"/>
          </a:xfrm>
        </p:spPr>
        <p:txBody>
          <a:bodyPr>
            <a:noAutofit/>
          </a:bodyPr>
          <a:lstStyle/>
          <a:p>
            <a:r>
              <a:rPr lang="en-US" sz="5400" dirty="0">
                <a:solidFill>
                  <a:srgbClr val="002060"/>
                </a:solidFill>
              </a:rPr>
              <a:t>Movie recommendation system</a:t>
            </a:r>
          </a:p>
        </p:txBody>
      </p:sp>
    </p:spTree>
    <p:extLst>
      <p:ext uri="{BB962C8B-B14F-4D97-AF65-F5344CB8AC3E}">
        <p14:creationId xmlns:p14="http://schemas.microsoft.com/office/powerpoint/2010/main" val="258428075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7">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9">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581" y="485678"/>
            <a:ext cx="4174743" cy="58887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BE06B3-6429-4F74-9D62-AEE2990EF98D}"/>
              </a:ext>
            </a:extLst>
          </p:cNvPr>
          <p:cNvSpPr>
            <a:spLocks noGrp="1"/>
          </p:cNvSpPr>
          <p:nvPr>
            <p:ph type="title"/>
          </p:nvPr>
        </p:nvSpPr>
        <p:spPr>
          <a:xfrm>
            <a:off x="927916" y="1293873"/>
            <a:ext cx="3269749" cy="4624327"/>
          </a:xfrm>
        </p:spPr>
        <p:txBody>
          <a:bodyPr anchor="ctr">
            <a:normAutofit/>
          </a:bodyPr>
          <a:lstStyle/>
          <a:p>
            <a:r>
              <a:rPr lang="en-US" sz="3000" dirty="0">
                <a:solidFill>
                  <a:srgbClr val="FFFFFF"/>
                </a:solidFill>
              </a:rPr>
              <a:t>Introduction of Recommend System</a:t>
            </a:r>
          </a:p>
        </p:txBody>
      </p:sp>
      <p:sp>
        <p:nvSpPr>
          <p:cNvPr id="3" name="Content Placeholder 2">
            <a:extLst>
              <a:ext uri="{FF2B5EF4-FFF2-40B4-BE49-F238E27FC236}">
                <a16:creationId xmlns:a16="http://schemas.microsoft.com/office/drawing/2014/main" id="{0A8C07FE-9669-4FD5-96A9-6DBE145537C8}"/>
              </a:ext>
            </a:extLst>
          </p:cNvPr>
          <p:cNvSpPr>
            <a:spLocks noGrp="1"/>
          </p:cNvSpPr>
          <p:nvPr>
            <p:ph idx="1"/>
          </p:nvPr>
        </p:nvSpPr>
        <p:spPr>
          <a:xfrm>
            <a:off x="5155905" y="649530"/>
            <a:ext cx="6108179" cy="4624327"/>
          </a:xfrm>
        </p:spPr>
        <p:txBody>
          <a:bodyPr anchor="ctr">
            <a:normAutofit/>
          </a:bodyPr>
          <a:lstStyle/>
          <a:p>
            <a:r>
              <a:rPr lang="en-US" dirty="0"/>
              <a:t> </a:t>
            </a:r>
            <a:r>
              <a:rPr lang="en-US" sz="2000" dirty="0"/>
              <a:t>Recommend system are important as they help them to make a right decision, without any cognitive resources</a:t>
            </a:r>
          </a:p>
          <a:p>
            <a:r>
              <a:rPr lang="en-US" sz="2000" dirty="0"/>
              <a:t>It’s are computer programs that  suggest recommendations to users depending on a variety of criteria.</a:t>
            </a:r>
          </a:p>
        </p:txBody>
      </p:sp>
    </p:spTree>
    <p:extLst>
      <p:ext uri="{BB962C8B-B14F-4D97-AF65-F5344CB8AC3E}">
        <p14:creationId xmlns:p14="http://schemas.microsoft.com/office/powerpoint/2010/main" val="1323082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581" y="485678"/>
            <a:ext cx="4174743" cy="58887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9B7237-C2F9-4816-843A-849741DC5DD1}"/>
              </a:ext>
            </a:extLst>
          </p:cNvPr>
          <p:cNvSpPr>
            <a:spLocks noGrp="1"/>
          </p:cNvSpPr>
          <p:nvPr>
            <p:ph type="title"/>
          </p:nvPr>
        </p:nvSpPr>
        <p:spPr>
          <a:xfrm>
            <a:off x="665019" y="1113764"/>
            <a:ext cx="3563888" cy="4624327"/>
          </a:xfrm>
        </p:spPr>
        <p:txBody>
          <a:bodyPr anchor="ctr">
            <a:normAutofit/>
          </a:bodyPr>
          <a:lstStyle/>
          <a:p>
            <a:r>
              <a:rPr lang="en-US" sz="2400" b="1" i="0" dirty="0">
                <a:effectLst/>
              </a:rPr>
              <a:t>Real-World examples</a:t>
            </a:r>
            <a:br>
              <a:rPr lang="en-US" sz="2000" b="0" i="0" dirty="0">
                <a:effectLst/>
                <a:latin typeface="Poppins" panose="020B0502040204020203" pitchFamily="2" charset="0"/>
              </a:rPr>
            </a:br>
            <a:endParaRPr lang="en-US" sz="3200" dirty="0"/>
          </a:p>
        </p:txBody>
      </p:sp>
      <p:pic>
        <p:nvPicPr>
          <p:cNvPr id="4" name="Content Placeholder 3">
            <a:extLst>
              <a:ext uri="{FF2B5EF4-FFF2-40B4-BE49-F238E27FC236}">
                <a16:creationId xmlns:a16="http://schemas.microsoft.com/office/drawing/2014/main" id="{86C27D23-CF89-459A-ACCA-2F233FBA175F}"/>
              </a:ext>
            </a:extLst>
          </p:cNvPr>
          <p:cNvPicPr>
            <a:picLocks noGrp="1" noChangeAspect="1"/>
          </p:cNvPicPr>
          <p:nvPr>
            <p:ph idx="1"/>
          </p:nvPr>
        </p:nvPicPr>
        <p:blipFill>
          <a:blip r:embed="rId2"/>
          <a:stretch>
            <a:fillRect/>
          </a:stretch>
        </p:blipFill>
        <p:spPr>
          <a:xfrm>
            <a:off x="5806140" y="1091677"/>
            <a:ext cx="1691555" cy="1691555"/>
          </a:xfrm>
          <a:prstGeom prst="rect">
            <a:avLst/>
          </a:prstGeom>
        </p:spPr>
      </p:pic>
      <p:sp>
        <p:nvSpPr>
          <p:cNvPr id="5" name="Arrow: Right 4">
            <a:extLst>
              <a:ext uri="{FF2B5EF4-FFF2-40B4-BE49-F238E27FC236}">
                <a16:creationId xmlns:a16="http://schemas.microsoft.com/office/drawing/2014/main" id="{E45A0084-77A6-4033-BF80-B00BB8E6E842}"/>
              </a:ext>
            </a:extLst>
          </p:cNvPr>
          <p:cNvSpPr/>
          <p:nvPr/>
        </p:nvSpPr>
        <p:spPr>
          <a:xfrm>
            <a:off x="7526678" y="1851636"/>
            <a:ext cx="978408" cy="8581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0000"/>
              </a:highlight>
            </a:endParaRPr>
          </a:p>
        </p:txBody>
      </p:sp>
      <p:sp>
        <p:nvSpPr>
          <p:cNvPr id="6" name="TextBox 5">
            <a:extLst>
              <a:ext uri="{FF2B5EF4-FFF2-40B4-BE49-F238E27FC236}">
                <a16:creationId xmlns:a16="http://schemas.microsoft.com/office/drawing/2014/main" id="{0D56BABE-FC97-4C6E-A42F-0239DF376071}"/>
              </a:ext>
            </a:extLst>
          </p:cNvPr>
          <p:cNvSpPr txBox="1"/>
          <p:nvPr/>
        </p:nvSpPr>
        <p:spPr>
          <a:xfrm>
            <a:off x="8805967" y="1690526"/>
            <a:ext cx="2151632" cy="1015663"/>
          </a:xfrm>
          <a:prstGeom prst="rect">
            <a:avLst/>
          </a:prstGeom>
          <a:noFill/>
        </p:spPr>
        <p:txBody>
          <a:bodyPr wrap="square" rtlCol="0">
            <a:spAutoFit/>
          </a:bodyPr>
          <a:lstStyle/>
          <a:p>
            <a:r>
              <a:rPr lang="en-US" sz="2000" dirty="0"/>
              <a:t>Product suggestions to customers</a:t>
            </a:r>
          </a:p>
        </p:txBody>
      </p:sp>
      <p:pic>
        <p:nvPicPr>
          <p:cNvPr id="1026" name="Picture 2" descr="YouTube">
            <a:extLst>
              <a:ext uri="{FF2B5EF4-FFF2-40B4-BE49-F238E27FC236}">
                <a16:creationId xmlns:a16="http://schemas.microsoft.com/office/drawing/2014/main" id="{8AB2D7CD-136B-4981-B531-FEB93F733C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5123" y="2308503"/>
            <a:ext cx="1727854" cy="1691555"/>
          </a:xfrm>
          <a:prstGeom prst="rect">
            <a:avLst/>
          </a:prstGeom>
          <a:noFill/>
          <a:extLst>
            <a:ext uri="{909E8E84-426E-40DD-AFC4-6F175D3DCCD1}">
              <a14:hiddenFill xmlns:a14="http://schemas.microsoft.com/office/drawing/2010/main">
                <a:solidFill>
                  <a:srgbClr val="FFFFFF"/>
                </a:solidFill>
              </a14:hiddenFill>
            </a:ext>
          </a:extLst>
        </p:spPr>
      </p:pic>
      <p:sp>
        <p:nvSpPr>
          <p:cNvPr id="20" name="Arrow: Right 19">
            <a:extLst>
              <a:ext uri="{FF2B5EF4-FFF2-40B4-BE49-F238E27FC236}">
                <a16:creationId xmlns:a16="http://schemas.microsoft.com/office/drawing/2014/main" id="{F60ED50E-0098-4272-9FA7-FFC74EAD6F8D}"/>
              </a:ext>
            </a:extLst>
          </p:cNvPr>
          <p:cNvSpPr/>
          <p:nvPr/>
        </p:nvSpPr>
        <p:spPr>
          <a:xfrm>
            <a:off x="7562977" y="3142796"/>
            <a:ext cx="978408" cy="8581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0000"/>
              </a:highlight>
            </a:endParaRPr>
          </a:p>
        </p:txBody>
      </p:sp>
      <p:sp>
        <p:nvSpPr>
          <p:cNvPr id="7" name="TextBox 6">
            <a:extLst>
              <a:ext uri="{FF2B5EF4-FFF2-40B4-BE49-F238E27FC236}">
                <a16:creationId xmlns:a16="http://schemas.microsoft.com/office/drawing/2014/main" id="{95A71162-01D0-4541-AFB6-35E85A810876}"/>
              </a:ext>
            </a:extLst>
          </p:cNvPr>
          <p:cNvSpPr txBox="1"/>
          <p:nvPr/>
        </p:nvSpPr>
        <p:spPr>
          <a:xfrm>
            <a:off x="8805967" y="2975029"/>
            <a:ext cx="2151632" cy="707886"/>
          </a:xfrm>
          <a:prstGeom prst="rect">
            <a:avLst/>
          </a:prstGeom>
          <a:noFill/>
        </p:spPr>
        <p:txBody>
          <a:bodyPr wrap="square" rtlCol="0">
            <a:spAutoFit/>
          </a:bodyPr>
          <a:lstStyle/>
          <a:p>
            <a:r>
              <a:rPr lang="en-US" sz="2000" dirty="0"/>
              <a:t>Recommend playlist</a:t>
            </a:r>
          </a:p>
        </p:txBody>
      </p:sp>
      <p:pic>
        <p:nvPicPr>
          <p:cNvPr id="9" name="Picture 8">
            <a:extLst>
              <a:ext uri="{FF2B5EF4-FFF2-40B4-BE49-F238E27FC236}">
                <a16:creationId xmlns:a16="http://schemas.microsoft.com/office/drawing/2014/main" id="{CF953A19-F548-44E3-BC82-3A74419DA617}"/>
              </a:ext>
            </a:extLst>
          </p:cNvPr>
          <p:cNvPicPr>
            <a:picLocks noChangeAspect="1"/>
          </p:cNvPicPr>
          <p:nvPr/>
        </p:nvPicPr>
        <p:blipFill>
          <a:blip r:embed="rId4"/>
          <a:stretch>
            <a:fillRect/>
          </a:stretch>
        </p:blipFill>
        <p:spPr>
          <a:xfrm>
            <a:off x="5835123" y="3630533"/>
            <a:ext cx="1691555" cy="1234764"/>
          </a:xfrm>
          <a:prstGeom prst="rect">
            <a:avLst/>
          </a:prstGeom>
        </p:spPr>
      </p:pic>
      <p:sp>
        <p:nvSpPr>
          <p:cNvPr id="22" name="Arrow: Right 21">
            <a:extLst>
              <a:ext uri="{FF2B5EF4-FFF2-40B4-BE49-F238E27FC236}">
                <a16:creationId xmlns:a16="http://schemas.microsoft.com/office/drawing/2014/main" id="{BD0145CA-8400-46B8-976E-34263CEAC990}"/>
              </a:ext>
            </a:extLst>
          </p:cNvPr>
          <p:cNvSpPr/>
          <p:nvPr/>
        </p:nvSpPr>
        <p:spPr>
          <a:xfrm>
            <a:off x="7562977" y="4203048"/>
            <a:ext cx="978408" cy="8581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0000"/>
              </a:highlight>
            </a:endParaRPr>
          </a:p>
        </p:txBody>
      </p:sp>
      <p:sp>
        <p:nvSpPr>
          <p:cNvPr id="11" name="TextBox 10">
            <a:extLst>
              <a:ext uri="{FF2B5EF4-FFF2-40B4-BE49-F238E27FC236}">
                <a16:creationId xmlns:a16="http://schemas.microsoft.com/office/drawing/2014/main" id="{5787980C-CB61-4F67-BF8D-29A7A954334E}"/>
              </a:ext>
            </a:extLst>
          </p:cNvPr>
          <p:cNvSpPr txBox="1"/>
          <p:nvPr/>
        </p:nvSpPr>
        <p:spPr>
          <a:xfrm>
            <a:off x="8696477" y="4042772"/>
            <a:ext cx="1934661" cy="707886"/>
          </a:xfrm>
          <a:prstGeom prst="rect">
            <a:avLst/>
          </a:prstGeom>
          <a:noFill/>
        </p:spPr>
        <p:txBody>
          <a:bodyPr wrap="square" rtlCol="0">
            <a:spAutoFit/>
          </a:bodyPr>
          <a:lstStyle/>
          <a:p>
            <a:r>
              <a:rPr lang="en-US" sz="2000" dirty="0"/>
              <a:t>Recommend google search</a:t>
            </a:r>
          </a:p>
        </p:txBody>
      </p:sp>
      <p:pic>
        <p:nvPicPr>
          <p:cNvPr id="13" name="Picture 12">
            <a:extLst>
              <a:ext uri="{FF2B5EF4-FFF2-40B4-BE49-F238E27FC236}">
                <a16:creationId xmlns:a16="http://schemas.microsoft.com/office/drawing/2014/main" id="{D2D812EC-BECC-4BC8-8454-DE34BCA13FD8}"/>
              </a:ext>
            </a:extLst>
          </p:cNvPr>
          <p:cNvPicPr>
            <a:picLocks noChangeAspect="1"/>
          </p:cNvPicPr>
          <p:nvPr/>
        </p:nvPicPr>
        <p:blipFill>
          <a:blip r:embed="rId5"/>
          <a:stretch>
            <a:fillRect/>
          </a:stretch>
        </p:blipFill>
        <p:spPr>
          <a:xfrm>
            <a:off x="5969634" y="4935793"/>
            <a:ext cx="1364566" cy="900888"/>
          </a:xfrm>
          <a:prstGeom prst="rect">
            <a:avLst/>
          </a:prstGeom>
        </p:spPr>
      </p:pic>
      <p:sp>
        <p:nvSpPr>
          <p:cNvPr id="25" name="Arrow: Right 24">
            <a:extLst>
              <a:ext uri="{FF2B5EF4-FFF2-40B4-BE49-F238E27FC236}">
                <a16:creationId xmlns:a16="http://schemas.microsoft.com/office/drawing/2014/main" id="{BBE86568-406F-4E41-9562-8E94CAF14F6D}"/>
              </a:ext>
            </a:extLst>
          </p:cNvPr>
          <p:cNvSpPr/>
          <p:nvPr/>
        </p:nvSpPr>
        <p:spPr>
          <a:xfrm>
            <a:off x="7562977" y="5386120"/>
            <a:ext cx="978408" cy="8581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0000"/>
              </a:highlight>
            </a:endParaRPr>
          </a:p>
        </p:txBody>
      </p:sp>
      <p:sp>
        <p:nvSpPr>
          <p:cNvPr id="15" name="TextBox 14">
            <a:extLst>
              <a:ext uri="{FF2B5EF4-FFF2-40B4-BE49-F238E27FC236}">
                <a16:creationId xmlns:a16="http://schemas.microsoft.com/office/drawing/2014/main" id="{83B9E7B4-2281-4397-99A6-E4B38CC3D9BB}"/>
              </a:ext>
            </a:extLst>
          </p:cNvPr>
          <p:cNvSpPr txBox="1"/>
          <p:nvPr/>
        </p:nvSpPr>
        <p:spPr>
          <a:xfrm flipH="1">
            <a:off x="8805967" y="5204164"/>
            <a:ext cx="1364566" cy="400110"/>
          </a:xfrm>
          <a:prstGeom prst="rect">
            <a:avLst/>
          </a:prstGeom>
          <a:noFill/>
        </p:spPr>
        <p:txBody>
          <a:bodyPr wrap="square" rtlCol="0">
            <a:spAutoFit/>
          </a:bodyPr>
          <a:lstStyle/>
          <a:p>
            <a:r>
              <a:rPr lang="en-US" sz="2000" dirty="0"/>
              <a:t>Movie Lists</a:t>
            </a:r>
          </a:p>
        </p:txBody>
      </p:sp>
    </p:spTree>
    <p:extLst>
      <p:ext uri="{BB962C8B-B14F-4D97-AF65-F5344CB8AC3E}">
        <p14:creationId xmlns:p14="http://schemas.microsoft.com/office/powerpoint/2010/main" val="3969069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CB9C3-F155-490B-91F1-2D9EEDB2B8E3}"/>
              </a:ext>
            </a:extLst>
          </p:cNvPr>
          <p:cNvSpPr>
            <a:spLocks noGrp="1"/>
          </p:cNvSpPr>
          <p:nvPr>
            <p:ph type="title"/>
          </p:nvPr>
        </p:nvSpPr>
        <p:spPr/>
        <p:txBody>
          <a:bodyPr/>
          <a:lstStyle/>
          <a:p>
            <a:r>
              <a:rPr lang="en-US" dirty="0"/>
              <a:t>Types of recommendation systems</a:t>
            </a:r>
          </a:p>
        </p:txBody>
      </p:sp>
      <p:sp>
        <p:nvSpPr>
          <p:cNvPr id="3" name="Content Placeholder 2">
            <a:extLst>
              <a:ext uri="{FF2B5EF4-FFF2-40B4-BE49-F238E27FC236}">
                <a16:creationId xmlns:a16="http://schemas.microsoft.com/office/drawing/2014/main" id="{97EDAEAE-506D-46CC-AF04-50B3D016C696}"/>
              </a:ext>
            </a:extLst>
          </p:cNvPr>
          <p:cNvSpPr>
            <a:spLocks noGrp="1"/>
          </p:cNvSpPr>
          <p:nvPr>
            <p:ph idx="1"/>
          </p:nvPr>
        </p:nvSpPr>
        <p:spPr/>
        <p:txBody>
          <a:bodyPr/>
          <a:lstStyle/>
          <a:p>
            <a:pPr rtl="0">
              <a:lnSpc>
                <a:spcPct val="200000"/>
              </a:lnSpc>
              <a:spcBef>
                <a:spcPts val="0"/>
              </a:spcBef>
              <a:spcAft>
                <a:spcPts val="0"/>
              </a:spcAft>
            </a:pPr>
            <a:r>
              <a:rPr lang="en-US" sz="2400" b="0" i="0" u="none" strike="noStrike" dirty="0">
                <a:solidFill>
                  <a:srgbClr val="000000"/>
                </a:solidFill>
                <a:effectLst/>
              </a:rPr>
              <a:t>Popularity based Recommendation System</a:t>
            </a:r>
          </a:p>
          <a:p>
            <a:pPr rtl="0">
              <a:lnSpc>
                <a:spcPct val="200000"/>
              </a:lnSpc>
              <a:spcBef>
                <a:spcPts val="0"/>
              </a:spcBef>
              <a:spcAft>
                <a:spcPts val="0"/>
              </a:spcAft>
            </a:pPr>
            <a:r>
              <a:rPr lang="en-US" sz="2400" dirty="0">
                <a:solidFill>
                  <a:srgbClr val="000000"/>
                </a:solidFill>
              </a:rPr>
              <a:t>Collaborative Recommendation System</a:t>
            </a:r>
          </a:p>
          <a:p>
            <a:pPr rtl="0">
              <a:lnSpc>
                <a:spcPct val="200000"/>
              </a:lnSpc>
              <a:spcBef>
                <a:spcPts val="0"/>
              </a:spcBef>
              <a:spcAft>
                <a:spcPts val="0"/>
              </a:spcAft>
            </a:pPr>
            <a:r>
              <a:rPr lang="en-US" sz="2400" b="0" i="0" u="none" strike="noStrike" dirty="0">
                <a:solidFill>
                  <a:srgbClr val="000000"/>
                </a:solidFill>
                <a:effectLst/>
              </a:rPr>
              <a:t>Content based Recommendation System</a:t>
            </a:r>
            <a:br>
              <a:rPr lang="en-US" sz="2400" b="0" i="0" u="none" strike="noStrike" dirty="0">
                <a:solidFill>
                  <a:srgbClr val="000000"/>
                </a:solidFill>
                <a:effectLst/>
                <a:latin typeface="Arial" panose="020B0604020202020204" pitchFamily="34" charset="0"/>
              </a:rPr>
            </a:br>
            <a:endParaRPr lang="en-US" sz="2400" b="0" i="0" u="none" strike="noStrike" dirty="0">
              <a:solidFill>
                <a:srgbClr val="000000"/>
              </a:solidFill>
              <a:effectLst/>
              <a:latin typeface="Arial" panose="020B0604020202020204" pitchFamily="34" charset="0"/>
            </a:endParaRPr>
          </a:p>
          <a:p>
            <a:pPr rtl="0">
              <a:spcBef>
                <a:spcPts val="0"/>
              </a:spcBef>
              <a:spcAft>
                <a:spcPts val="0"/>
              </a:spcAft>
            </a:pPr>
            <a:endParaRPr lang="en-US" b="0" dirty="0">
              <a:effectLst/>
            </a:endParaRPr>
          </a:p>
        </p:txBody>
      </p:sp>
    </p:spTree>
    <p:extLst>
      <p:ext uri="{BB962C8B-B14F-4D97-AF65-F5344CB8AC3E}">
        <p14:creationId xmlns:p14="http://schemas.microsoft.com/office/powerpoint/2010/main" val="30372266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28E1B-B302-416F-B72A-488EF37D3916}"/>
              </a:ext>
            </a:extLst>
          </p:cNvPr>
          <p:cNvSpPr>
            <a:spLocks noGrp="1"/>
          </p:cNvSpPr>
          <p:nvPr>
            <p:ph type="title"/>
          </p:nvPr>
        </p:nvSpPr>
        <p:spPr/>
        <p:txBody>
          <a:bodyPr/>
          <a:lstStyle/>
          <a:p>
            <a:r>
              <a:rPr lang="en-US" b="1" i="0" dirty="0">
                <a:effectLst/>
              </a:rPr>
              <a:t> </a:t>
            </a:r>
            <a:r>
              <a:rPr lang="en-US" i="0" dirty="0">
                <a:effectLst/>
              </a:rPr>
              <a:t>COLD START PROBLEM</a:t>
            </a:r>
            <a:br>
              <a:rPr lang="en-US" b="0" i="0" dirty="0">
                <a:solidFill>
                  <a:srgbClr val="292929"/>
                </a:solidFill>
                <a:effectLst/>
                <a:latin typeface="sohne"/>
              </a:rPr>
            </a:br>
            <a:endParaRPr lang="en-US" dirty="0"/>
          </a:p>
        </p:txBody>
      </p:sp>
      <p:sp>
        <p:nvSpPr>
          <p:cNvPr id="3" name="Content Placeholder 2">
            <a:extLst>
              <a:ext uri="{FF2B5EF4-FFF2-40B4-BE49-F238E27FC236}">
                <a16:creationId xmlns:a16="http://schemas.microsoft.com/office/drawing/2014/main" id="{3529DE2B-79BE-4135-A411-BB760D2406FB}"/>
              </a:ext>
            </a:extLst>
          </p:cNvPr>
          <p:cNvSpPr>
            <a:spLocks noGrp="1"/>
          </p:cNvSpPr>
          <p:nvPr>
            <p:ph idx="1"/>
          </p:nvPr>
        </p:nvSpPr>
        <p:spPr/>
        <p:txBody>
          <a:bodyPr/>
          <a:lstStyle/>
          <a:p>
            <a:r>
              <a:rPr lang="en-US" sz="2000" b="0" i="0" dirty="0">
                <a:solidFill>
                  <a:srgbClr val="292929"/>
                </a:solidFill>
                <a:effectLst/>
                <a:cs typeface="Arial" panose="020B0604020202020204" pitchFamily="34" charset="0"/>
              </a:rPr>
              <a:t>Cold start problem arises </a:t>
            </a:r>
            <a:r>
              <a:rPr lang="en-US" sz="2000" b="0" i="0" dirty="0">
                <a:solidFill>
                  <a:srgbClr val="000000"/>
                </a:solidFill>
                <a:effectLst/>
                <a:cs typeface="Arial" panose="020B0604020202020204" pitchFamily="34" charset="0"/>
              </a:rPr>
              <a:t>at the time of registration of new user or adding up new resource or item in the system.</a:t>
            </a:r>
          </a:p>
          <a:p>
            <a:r>
              <a:rPr lang="en-US" sz="2000" dirty="0">
                <a:solidFill>
                  <a:srgbClr val="000000"/>
                </a:solidFill>
                <a:cs typeface="Arial" panose="020B0604020202020204" pitchFamily="34" charset="0"/>
              </a:rPr>
              <a:t>T</a:t>
            </a:r>
            <a:r>
              <a:rPr lang="en-US" sz="2000" b="0" i="0" dirty="0">
                <a:solidFill>
                  <a:srgbClr val="000000"/>
                </a:solidFill>
                <a:effectLst/>
                <a:cs typeface="Arial" panose="020B0604020202020204" pitchFamily="34" charset="0"/>
              </a:rPr>
              <a:t>here would be no information about user’s interest or his rating for any particular item in the system, and recommending appropriate item at that time to the new user is very challenging.</a:t>
            </a:r>
          </a:p>
          <a:p>
            <a:endParaRPr lang="en-US" dirty="0"/>
          </a:p>
          <a:p>
            <a:endParaRPr lang="en-US" dirty="0"/>
          </a:p>
        </p:txBody>
      </p:sp>
    </p:spTree>
    <p:extLst>
      <p:ext uri="{BB962C8B-B14F-4D97-AF65-F5344CB8AC3E}">
        <p14:creationId xmlns:p14="http://schemas.microsoft.com/office/powerpoint/2010/main" val="150825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FE25B-50B9-4C64-8685-D9D5CD928579}"/>
              </a:ext>
            </a:extLst>
          </p:cNvPr>
          <p:cNvSpPr>
            <a:spLocks noGrp="1"/>
          </p:cNvSpPr>
          <p:nvPr>
            <p:ph type="title"/>
          </p:nvPr>
        </p:nvSpPr>
        <p:spPr/>
        <p:txBody>
          <a:bodyPr/>
          <a:lstStyle/>
          <a:p>
            <a:r>
              <a:rPr lang="en-US" dirty="0"/>
              <a:t>Types of cold start problem</a:t>
            </a:r>
          </a:p>
        </p:txBody>
      </p:sp>
      <p:sp>
        <p:nvSpPr>
          <p:cNvPr id="3" name="Content Placeholder 2">
            <a:extLst>
              <a:ext uri="{FF2B5EF4-FFF2-40B4-BE49-F238E27FC236}">
                <a16:creationId xmlns:a16="http://schemas.microsoft.com/office/drawing/2014/main" id="{A409F203-CDB1-48CD-B3DF-887636D0F60E}"/>
              </a:ext>
            </a:extLst>
          </p:cNvPr>
          <p:cNvSpPr>
            <a:spLocks noGrp="1"/>
          </p:cNvSpPr>
          <p:nvPr>
            <p:ph idx="1"/>
          </p:nvPr>
        </p:nvSpPr>
        <p:spPr/>
        <p:txBody>
          <a:bodyPr/>
          <a:lstStyle/>
          <a:p>
            <a:r>
              <a:rPr lang="en-US" sz="2400" i="0" dirty="0">
                <a:solidFill>
                  <a:srgbClr val="292929"/>
                </a:solidFill>
                <a:effectLst/>
                <a:cs typeface="Arial" panose="020B0604020202020204" pitchFamily="34" charset="0"/>
              </a:rPr>
              <a:t>New user </a:t>
            </a:r>
            <a:r>
              <a:rPr lang="en-US" sz="2400" b="0" i="0" dirty="0">
                <a:solidFill>
                  <a:srgbClr val="292929"/>
                </a:solidFill>
                <a:effectLst/>
                <a:cs typeface="Arial" panose="020B0604020202020204" pitchFamily="34" charset="0"/>
              </a:rPr>
              <a:t>(what to recommend?)</a:t>
            </a:r>
          </a:p>
          <a:p>
            <a:r>
              <a:rPr lang="en-US" sz="2400" i="0" dirty="0">
                <a:solidFill>
                  <a:srgbClr val="292929"/>
                </a:solidFill>
                <a:effectLst/>
                <a:cs typeface="Arial" panose="020B0604020202020204" pitchFamily="34" charset="0"/>
              </a:rPr>
              <a:t>New items </a:t>
            </a:r>
            <a:r>
              <a:rPr lang="en-US" sz="2400" b="0" i="0" dirty="0">
                <a:solidFill>
                  <a:srgbClr val="292929"/>
                </a:solidFill>
                <a:effectLst/>
                <a:cs typeface="Arial" panose="020B0604020202020204" pitchFamily="34" charset="0"/>
              </a:rPr>
              <a:t>(Whom to recommend?)</a:t>
            </a:r>
          </a:p>
          <a:p>
            <a:endParaRPr lang="en-US" sz="2400" b="0" i="0" dirty="0">
              <a:solidFill>
                <a:srgbClr val="292929"/>
              </a:solidFill>
              <a:effectLst/>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1653625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14">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6">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581" y="485678"/>
            <a:ext cx="4174743" cy="58887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C8C168-C2AD-4557-B94F-FF161D69725E}"/>
              </a:ext>
            </a:extLst>
          </p:cNvPr>
          <p:cNvSpPr>
            <a:spLocks noGrp="1"/>
          </p:cNvSpPr>
          <p:nvPr>
            <p:ph type="title"/>
          </p:nvPr>
        </p:nvSpPr>
        <p:spPr>
          <a:xfrm>
            <a:off x="959157" y="1113764"/>
            <a:ext cx="3269749" cy="4624327"/>
          </a:xfrm>
        </p:spPr>
        <p:txBody>
          <a:bodyPr anchor="ctr">
            <a:normAutofit/>
          </a:bodyPr>
          <a:lstStyle/>
          <a:p>
            <a:r>
              <a:rPr lang="en-US" sz="3200">
                <a:solidFill>
                  <a:srgbClr val="FFFFFF"/>
                </a:solidFill>
              </a:rPr>
              <a:t>Overcome the cold start problem</a:t>
            </a:r>
          </a:p>
        </p:txBody>
      </p:sp>
      <p:sp>
        <p:nvSpPr>
          <p:cNvPr id="3" name="Content Placeholder 2">
            <a:extLst>
              <a:ext uri="{FF2B5EF4-FFF2-40B4-BE49-F238E27FC236}">
                <a16:creationId xmlns:a16="http://schemas.microsoft.com/office/drawing/2014/main" id="{03B22758-B9F3-4178-AF0F-07017727B833}"/>
              </a:ext>
            </a:extLst>
          </p:cNvPr>
          <p:cNvSpPr>
            <a:spLocks noGrp="1"/>
          </p:cNvSpPr>
          <p:nvPr>
            <p:ph idx="1"/>
          </p:nvPr>
        </p:nvSpPr>
        <p:spPr>
          <a:xfrm>
            <a:off x="5155905" y="1113764"/>
            <a:ext cx="6108179" cy="4624327"/>
          </a:xfrm>
        </p:spPr>
        <p:txBody>
          <a:bodyPr anchor="ctr">
            <a:normAutofit/>
          </a:bodyPr>
          <a:lstStyle/>
          <a:p>
            <a:pPr marL="0" indent="0">
              <a:buNone/>
            </a:pPr>
            <a:r>
              <a:rPr lang="en-US" b="1" i="0" dirty="0">
                <a:effectLst/>
              </a:rPr>
              <a:t>NEW USER COLD START SOLUTIONS</a:t>
            </a:r>
          </a:p>
          <a:p>
            <a:r>
              <a:rPr lang="en-US" b="0" i="0" dirty="0">
                <a:effectLst/>
              </a:rPr>
              <a:t>Use implicit data</a:t>
            </a:r>
          </a:p>
          <a:p>
            <a:r>
              <a:rPr lang="en-US" b="0" i="0" dirty="0">
                <a:effectLst/>
              </a:rPr>
              <a:t>Recommend top sellers / do promotions</a:t>
            </a:r>
            <a:endParaRPr lang="en-US" dirty="0"/>
          </a:p>
          <a:p>
            <a:r>
              <a:rPr lang="en-US" b="0" i="0" dirty="0">
                <a:effectLst/>
              </a:rPr>
              <a:t> Interview the user</a:t>
            </a:r>
          </a:p>
          <a:p>
            <a:pPr marL="0" indent="0">
              <a:buNone/>
            </a:pPr>
            <a:r>
              <a:rPr lang="en-US" b="1" i="0" dirty="0">
                <a:effectLst/>
              </a:rPr>
              <a:t>NEW ITEM COLD START SOLUTIONS</a:t>
            </a:r>
          </a:p>
          <a:p>
            <a:r>
              <a:rPr lang="en-US" b="0" i="0" dirty="0">
                <a:effectLst/>
              </a:rPr>
              <a:t>Content-based Recommendations</a:t>
            </a:r>
          </a:p>
          <a:p>
            <a:r>
              <a:rPr lang="en-US" b="0" i="0" dirty="0">
                <a:effectLst/>
              </a:rPr>
              <a:t>Random Exploration</a:t>
            </a:r>
            <a:endParaRPr lang="en-US" dirty="0"/>
          </a:p>
          <a:p>
            <a:r>
              <a:rPr lang="en-US" b="0" i="0" dirty="0">
                <a:effectLst/>
              </a:rPr>
              <a:t>Map content attributes to hidden features found by matrix factorization</a:t>
            </a:r>
            <a:endParaRPr lang="en-US" dirty="0"/>
          </a:p>
        </p:txBody>
      </p:sp>
    </p:spTree>
    <p:extLst>
      <p:ext uri="{BB962C8B-B14F-4D97-AF65-F5344CB8AC3E}">
        <p14:creationId xmlns:p14="http://schemas.microsoft.com/office/powerpoint/2010/main" val="1515619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061F6-B5EA-4F50-8CBF-A15FDC85F066}"/>
              </a:ext>
            </a:extLst>
          </p:cNvPr>
          <p:cNvSpPr>
            <a:spLocks noGrp="1"/>
          </p:cNvSpPr>
          <p:nvPr>
            <p:ph type="title"/>
          </p:nvPr>
        </p:nvSpPr>
        <p:spPr/>
        <p:txBody>
          <a:bodyPr/>
          <a:lstStyle/>
          <a:p>
            <a:r>
              <a:rPr lang="en-US" dirty="0"/>
              <a:t>Advantage and disadvantage of recommendation system</a:t>
            </a:r>
          </a:p>
        </p:txBody>
      </p:sp>
      <p:sp>
        <p:nvSpPr>
          <p:cNvPr id="3" name="Content Placeholder 2">
            <a:extLst>
              <a:ext uri="{FF2B5EF4-FFF2-40B4-BE49-F238E27FC236}">
                <a16:creationId xmlns:a16="http://schemas.microsoft.com/office/drawing/2014/main" id="{FE9CEA21-1B95-49A9-BE76-EB4ECE53C140}"/>
              </a:ext>
            </a:extLst>
          </p:cNvPr>
          <p:cNvSpPr>
            <a:spLocks noGrp="1"/>
          </p:cNvSpPr>
          <p:nvPr>
            <p:ph sz="half" idx="1"/>
          </p:nvPr>
        </p:nvSpPr>
        <p:spPr>
          <a:xfrm>
            <a:off x="581194" y="3088462"/>
            <a:ext cx="5422390" cy="3633047"/>
          </a:xfrm>
        </p:spPr>
        <p:txBody>
          <a:bodyPr>
            <a:normAutofit fontScale="92500" lnSpcReduction="20000"/>
          </a:bodyPr>
          <a:lstStyle/>
          <a:p>
            <a:pPr marL="0" indent="0" algn="l">
              <a:buNone/>
            </a:pPr>
            <a:r>
              <a:rPr lang="en-US" sz="2400" b="1" dirty="0"/>
              <a:t>Advantage for </a:t>
            </a:r>
            <a:r>
              <a:rPr lang="en-US" sz="2400" b="1" i="0" dirty="0">
                <a:solidFill>
                  <a:srgbClr val="000000"/>
                </a:solidFill>
                <a:effectLst/>
              </a:rPr>
              <a:t>Collaborative </a:t>
            </a:r>
          </a:p>
          <a:p>
            <a:pPr marL="0" indent="0" algn="l">
              <a:buNone/>
            </a:pPr>
            <a:r>
              <a:rPr lang="en-US" sz="2400" b="1" i="0" dirty="0">
                <a:solidFill>
                  <a:srgbClr val="000000"/>
                </a:solidFill>
                <a:effectLst/>
              </a:rPr>
              <a:t>recommendation </a:t>
            </a:r>
          </a:p>
          <a:p>
            <a:r>
              <a:rPr lang="en-US" i="0" dirty="0">
                <a:solidFill>
                  <a:srgbClr val="202124"/>
                </a:solidFill>
                <a:effectLst/>
              </a:rPr>
              <a:t>No domain knowledge necessary</a:t>
            </a:r>
          </a:p>
          <a:p>
            <a:pPr algn="l"/>
            <a:r>
              <a:rPr lang="en-US" b="0" i="0" dirty="0">
                <a:solidFill>
                  <a:srgbClr val="000000"/>
                </a:solidFill>
                <a:effectLst/>
              </a:rPr>
              <a:t>The system matches similar items between users. </a:t>
            </a:r>
          </a:p>
          <a:p>
            <a:pPr algn="l"/>
            <a:r>
              <a:rPr lang="en-US" i="0" dirty="0">
                <a:solidFill>
                  <a:srgbClr val="202124"/>
                </a:solidFill>
                <a:effectLst/>
              </a:rPr>
              <a:t>Great starting point</a:t>
            </a:r>
          </a:p>
          <a:p>
            <a:pPr marL="0" indent="0" algn="l">
              <a:buNone/>
            </a:pPr>
            <a:r>
              <a:rPr lang="en-US" sz="2400" b="1" dirty="0"/>
              <a:t>Advantage for Content Based</a:t>
            </a:r>
          </a:p>
          <a:p>
            <a:pPr algn="l"/>
            <a:r>
              <a:rPr lang="en-US" b="0" i="0" dirty="0">
                <a:solidFill>
                  <a:srgbClr val="000000"/>
                </a:solidFill>
                <a:effectLst/>
              </a:rPr>
              <a:t>The system didn’t use the user's data to recommend items. </a:t>
            </a:r>
          </a:p>
          <a:p>
            <a:pPr algn="l"/>
            <a:r>
              <a:rPr lang="en-US" b="0" i="0" dirty="0">
                <a:solidFill>
                  <a:srgbClr val="000000"/>
                </a:solidFill>
                <a:effectLst/>
              </a:rPr>
              <a:t>The system has the ability to recommend new items to the users based on similarity between items specifications.. </a:t>
            </a:r>
          </a:p>
          <a:p>
            <a:pPr algn="l"/>
            <a:endParaRPr lang="en-US" b="0" i="0" dirty="0">
              <a:solidFill>
                <a:srgbClr val="000000"/>
              </a:solidFill>
              <a:effectLst/>
              <a:latin typeface="ff1"/>
            </a:endParaRPr>
          </a:p>
          <a:p>
            <a:endParaRPr lang="en-US" i="0" dirty="0">
              <a:solidFill>
                <a:srgbClr val="000000"/>
              </a:solidFill>
              <a:effectLst/>
            </a:endParaRPr>
          </a:p>
          <a:p>
            <a:endParaRPr lang="en-US" dirty="0"/>
          </a:p>
          <a:p>
            <a:endParaRPr lang="en-US" sz="2400" dirty="0"/>
          </a:p>
          <a:p>
            <a:pPr marL="0" indent="0">
              <a:buNone/>
            </a:pPr>
            <a:endParaRPr lang="en-US" dirty="0"/>
          </a:p>
        </p:txBody>
      </p:sp>
      <p:sp>
        <p:nvSpPr>
          <p:cNvPr id="4" name="Content Placeholder 3">
            <a:extLst>
              <a:ext uri="{FF2B5EF4-FFF2-40B4-BE49-F238E27FC236}">
                <a16:creationId xmlns:a16="http://schemas.microsoft.com/office/drawing/2014/main" id="{AFA84FA7-9FEF-4B66-BBB6-815F34EEDCF1}"/>
              </a:ext>
            </a:extLst>
          </p:cNvPr>
          <p:cNvSpPr>
            <a:spLocks noGrp="1"/>
          </p:cNvSpPr>
          <p:nvPr>
            <p:ph sz="half" idx="2"/>
          </p:nvPr>
        </p:nvSpPr>
        <p:spPr/>
        <p:txBody>
          <a:bodyPr>
            <a:normAutofit fontScale="92500" lnSpcReduction="20000"/>
          </a:bodyPr>
          <a:lstStyle/>
          <a:p>
            <a:pPr marL="0" indent="0" algn="l">
              <a:buNone/>
            </a:pPr>
            <a:r>
              <a:rPr lang="en-US" sz="2400" b="1" dirty="0"/>
              <a:t>Disadvantage for </a:t>
            </a:r>
            <a:r>
              <a:rPr lang="en-US" sz="2400" b="1" i="0" dirty="0">
                <a:solidFill>
                  <a:srgbClr val="000000"/>
                </a:solidFill>
                <a:effectLst/>
              </a:rPr>
              <a:t>Collaborative </a:t>
            </a:r>
          </a:p>
          <a:p>
            <a:pPr marL="0" indent="0" algn="l">
              <a:buNone/>
            </a:pPr>
            <a:r>
              <a:rPr lang="en-US" sz="2400" b="1" i="0" dirty="0">
                <a:solidFill>
                  <a:srgbClr val="000000"/>
                </a:solidFill>
                <a:effectLst/>
              </a:rPr>
              <a:t>recommendation </a:t>
            </a:r>
          </a:p>
          <a:p>
            <a:r>
              <a:rPr lang="en-US" i="0" dirty="0">
                <a:solidFill>
                  <a:srgbClr val="202124"/>
                </a:solidFill>
                <a:effectLst/>
              </a:rPr>
              <a:t>Cannot handle fresh items</a:t>
            </a:r>
          </a:p>
          <a:p>
            <a:pPr algn="l"/>
            <a:r>
              <a:rPr lang="en-US" b="0" i="0" dirty="0">
                <a:solidFill>
                  <a:srgbClr val="000000"/>
                </a:solidFill>
                <a:effectLst/>
              </a:rPr>
              <a:t>The quality of the system depends on the highest rating item list. </a:t>
            </a:r>
          </a:p>
          <a:p>
            <a:pPr marL="0" indent="0">
              <a:buNone/>
            </a:pPr>
            <a:r>
              <a:rPr lang="en-US" sz="2400" b="1" dirty="0"/>
              <a:t>Disadvantage for Content Based</a:t>
            </a:r>
          </a:p>
          <a:p>
            <a:pPr algn="l"/>
            <a:r>
              <a:rPr lang="en-US" b="0" i="0" dirty="0">
                <a:solidFill>
                  <a:srgbClr val="000000"/>
                </a:solidFill>
                <a:effectLst/>
              </a:rPr>
              <a:t>We need for analysis and detect all item features to create a recommendation list </a:t>
            </a:r>
          </a:p>
          <a:p>
            <a:pPr marL="0" indent="0" algn="l">
              <a:buNone/>
            </a:pPr>
            <a:endParaRPr lang="en-US" b="0" i="0" dirty="0">
              <a:solidFill>
                <a:srgbClr val="000000"/>
              </a:solidFill>
              <a:effectLst/>
              <a:latin typeface="ff1"/>
            </a:endParaRPr>
          </a:p>
          <a:p>
            <a:pPr marL="0" indent="0">
              <a:buNone/>
            </a:pPr>
            <a:endParaRPr lang="en-US" sz="1800" dirty="0"/>
          </a:p>
          <a:p>
            <a:endParaRPr lang="en-US" dirty="0"/>
          </a:p>
        </p:txBody>
      </p:sp>
    </p:spTree>
    <p:extLst>
      <p:ext uri="{BB962C8B-B14F-4D97-AF65-F5344CB8AC3E}">
        <p14:creationId xmlns:p14="http://schemas.microsoft.com/office/powerpoint/2010/main" val="3580546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p:txBody>
          <a:bodyPr>
            <a:normAutofit/>
          </a:bodyPr>
          <a:lstStyle/>
          <a:p>
            <a:pPr algn="ctr"/>
            <a:r>
              <a:rPr lang="en-US" dirty="0"/>
              <a:t>Title Lorem Ipsum </a:t>
            </a:r>
          </a:p>
        </p:txBody>
      </p:sp>
      <p:graphicFrame>
        <p:nvGraphicFramePr>
          <p:cNvPr id="5" name="Content Placeholder 2" descr="SmartArt graphic">
            <a:extLst>
              <a:ext uri="{FF2B5EF4-FFF2-40B4-BE49-F238E27FC236}">
                <a16:creationId xmlns:a16="http://schemas.microsoft.com/office/drawing/2014/main" id="{91DB1382-7276-49FA-9632-38D558F457E3}"/>
              </a:ext>
            </a:extLst>
          </p:cNvPr>
          <p:cNvGraphicFramePr>
            <a:graphicFrameLocks noGrp="1"/>
          </p:cNvGraphicFramePr>
          <p:nvPr>
            <p:ph idx="1"/>
            <p:extLst>
              <p:ext uri="{D42A27DB-BD31-4B8C-83A1-F6EECF244321}">
                <p14:modId xmlns:p14="http://schemas.microsoft.com/office/powerpoint/2010/main" val="3617019551"/>
              </p:ext>
            </p:extLst>
          </p:nvPr>
        </p:nvGraphicFramePr>
        <p:xfrm>
          <a:off x="1066800" y="2310063"/>
          <a:ext cx="10058400" cy="37256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3243182"/>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37651BA-F45C-4845-9AB3-E0A65B39F5E1}">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CDB58277-F8DF-46FF-84EC-EF41B835E69F}">
  <ds:schemaRefs>
    <ds:schemaRef ds:uri="http://schemas.microsoft.com/sharepoint/v3/contenttype/forms"/>
  </ds:schemaRefs>
</ds:datastoreItem>
</file>

<file path=customXml/itemProps3.xml><?xml version="1.0" encoding="utf-8"?>
<ds:datastoreItem xmlns:ds="http://schemas.openxmlformats.org/officeDocument/2006/customXml" ds:itemID="{2D276E62-80A3-44DD-9BCC-97ED2B99B57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TM03457464[[fn=Dividend]]</Template>
  <TotalTime>507</TotalTime>
  <Words>326</Words>
  <Application>Microsoft Office PowerPoint</Application>
  <PresentationFormat>Widescreen</PresentationFormat>
  <Paragraphs>51</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ff1</vt:lpstr>
      <vt:lpstr>Gill Sans MT</vt:lpstr>
      <vt:lpstr>Poppins</vt:lpstr>
      <vt:lpstr>sohne</vt:lpstr>
      <vt:lpstr>Wingdings 2</vt:lpstr>
      <vt:lpstr>Dividend</vt:lpstr>
      <vt:lpstr>Movie recommendation system</vt:lpstr>
      <vt:lpstr>Introduction of Recommend System</vt:lpstr>
      <vt:lpstr>Real-World examples </vt:lpstr>
      <vt:lpstr>Types of recommendation systems</vt:lpstr>
      <vt:lpstr> COLD START PROBLEM </vt:lpstr>
      <vt:lpstr>Types of cold start problem</vt:lpstr>
      <vt:lpstr>Overcome the cold start problem</vt:lpstr>
      <vt:lpstr>Advantage and disadvantage of recommendation system</vt:lpstr>
      <vt:lpstr>Title Lorem Ipsum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Movie recommendation system</dc:title>
  <dc:creator>Mounya i</dc:creator>
  <cp:lastModifiedBy>Mounya i</cp:lastModifiedBy>
  <cp:revision>4</cp:revision>
  <dcterms:created xsi:type="dcterms:W3CDTF">2022-01-04T05:09:07Z</dcterms:created>
  <dcterms:modified xsi:type="dcterms:W3CDTF">2022-01-04T13:36:20Z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